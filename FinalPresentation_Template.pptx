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Sz cx="9144000" cy="6858000" type="screen4x3"/>
  <p:notesSz cx="6858000" cy="9144000"/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>
        <a:lvl1pPr algn="l">
          <a:defRPr lang="en-US" sz="3600" b="1">
            <a:solidFill>
              <a:srgbClr val="E84B00"/>
            </a:solidFill>
            <a:latin typeface="Arial Black"/>
          </a:defRPr>
        </a:lvl1pPr>
      </a:lstStyle>
    </p:titleStyle>
    <p:bodyStyle>
      <a:lstStyle>
        <a:lvl1pPr>
          <a:defRPr lang="en-US" sz="1800">
            <a:solidFill>
              <a:srgbClr val="FFFFFF"/>
            </a:solidFill>
            <a:latin typeface="Arial"/>
          </a:defRPr>
        </a:lvl1pPr>
      </a:lstStyle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Orange left accent bar -->
      <p:sp>
        <p:nvSpPr>
          <p:cNvPr id="2" name="bar"/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/>
          <a:lstStyle/>
          <a:p/>
        </p:txBody>
      </p:sp>
      <!-- Yellow top accent bar -->
      <p:sp>
        <p:nvSpPr>
          <p:cNvPr id="3" name="topbar"/>
          <p:cNvSpPr>
            <a:spLocks noGrp="1"/>
          </p:cNvSpPr>
          <p:nvPr/>
        </p:nvSpPr>
        <p:spPr>
          <a:xfrm>
            <a:off x="228600" y="0"/>
            <a:ext cx="8915400" cy="1143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!-- Badge pill -->
      <p:sp>
        <p:nvSpPr>
          <p:cNvPr id="4" name="badge"/>
          <p:cNvSpPr>
            <a:spLocks noGrp="1"/>
          </p:cNvSpPr>
          <p:nvPr/>
        </p:nvSpPr>
        <p:spPr>
          <a:xfrm>
            <a:off x="457200" y="342900"/>
            <a:ext cx="2743200" cy="2286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700" b="1" dirty="0">
                <a:solidFill>
                  <a:srgbClr val="0A2540"/>
                </a:solidFill>
                <a:latin typeface="Arial Black"/>
              </a:rPr>
              <a:t>SYEP TECH INTERNSHIP · 2025</a:t>
            </a:r>
          </a:p>
        </p:txBody>
      </p:sp>
      <!-- Main title -->
      <p:sp>
        <p:nvSpPr>
          <p:cNvPr id="5" name="title"/>
          <p:cNvSpPr>
            <a:spLocks noGrp="1"/>
          </p:cNvSpPr>
          <p:nvPr/>
        </p:nvSpPr>
        <p:spPr>
          <a:xfrm>
            <a:off x="457200" y="685800"/>
            <a:ext cx="8000000" cy="1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 dirty="0">
                <a:solidFill>
                  <a:srgbClr val="E84B00"/>
                </a:solidFill>
                <a:latin typeface="Arial Black"/>
              </a:rPr>
              <a:t>FINAL PRESENTATION</a:t>
            </a:r>
          </a:p>
          <a:p>
            <a:r>
              <a:rPr lang="en-US" sz="2400" b="0" dirty="0">
                <a:solidFill>
                  <a:srgbClr val="FFFFFF"/>
                </a:solidFill>
                <a:latin typeface="Arial"/>
              </a:rPr>
              <a:t>[Project Title Here]</a:t>
            </a:r>
          </a:p>
        </p:txBody>
      </p:sp>
      <!-- Divider line -->
      <p:sp>
        <p:nvSpPr>
          <p:cNvPr id="6" name="divider"/>
          <p:cNvSpPr>
            <a:spLocks noGrp="1"/>
          </p:cNvSpPr>
          <p:nvPr/>
        </p:nvSpPr>
        <p:spPr>
          <a:xfrm>
            <a:off x="457200" y="2400000"/>
            <a:ext cx="13716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!-- Intern name & company -->
      <p:sp>
        <p:nvSpPr>
          <p:cNvPr id="7" name="sub"/>
          <p:cNvSpPr>
            <a:spLocks noGrp="1"/>
          </p:cNvSpPr>
          <p:nvPr/>
        </p:nvSpPr>
        <p:spPr>
          <a:xfrm>
            <a:off x="457200" y="2514600"/>
            <a:ext cx="6858000" cy="1371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 dirty="0">
                <a:solidFill>
                  <a:srgbClr val="FFFFFF"/>
                </a:solidFill>
                <a:latin typeface="Arial"/>
              </a:rPr>
              <a:t>Presented by: [Intern Name(s)]</a:t>
            </a:r>
          </a:p>
          <a:p>
            <a:r>
              <a:rPr lang="en-US" sz="1400" b="0" dirty="0">
                <a:solidFill>
                  <a:srgbClr val="FFE600"/>
                </a:solidFill>
                <a:latin typeface="Arial"/>
              </a:rPr>
              <a:t>Host Company: [Company Name]  ·  Supervisor: [Name]</a:t>
            </a:r>
          </a:p>
          <a:p>
            <a:r>
              <a:rPr lang="en-US" sz="1400" b="0" dirty="0">
                <a:solidFill>
                  <a:srgbClr val="FFE600"/>
                </a:solidFill>
                <a:latin typeface="Arial"/>
              </a:rPr>
              <a:t>DYCD SYEP  ·  Summer 2025  ·  [Date]</a:t>
            </a:r>
          </a:p>
        </p:txBody>
      </p:sp>
      <!-- Bottom footer bar -->
      <p:sp>
        <p:nvSpPr>
          <p:cNvPr id="8" name="footer"/>
          <p:cNvSpPr>
            <a:spLocks noGrp="1"/>
          </p:cNvSpPr>
          <p:nvPr/>
        </p:nvSpPr>
        <p:spPr>
          <a:xfrm>
            <a:off x="228600" y="6400000"/>
            <a:ext cx="8915400" cy="4580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NYC DEPT OF YOUTH &amp; COMMUNITY DEVELOPMENT  ·  URBAN ASSEMBLY  ·  THE KNOWLEDGE HOUSE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r --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="ctr" anchorCtr="1" lIns="228600" rIns="228600" tIns="45720" bIns="45720"/>
          <a:lstStyle/>
          <a:p>
            <a:r>
              <a:rPr lang="en-US" sz="2400" b="1" dirty="0">
                <a:solidFill>
                  <a:srgbClr val="E84B00"/>
                </a:solidFill>
                <a:latin typeface="Arial Black"/>
              </a:rPr>
              <a:t>ABOUT ME / ABOUT OUR TEAM</a:t>
            </a:r>
          </a:p>
        </p:txBody>
      </p:sp>
      <!-- Yellow underbar accent -->
      <p:sp>
        <p:nvSpPr>
          <p:cNvPr id="3" name="accent"/>
          <p:cNvSpPr>
            <a:spLocks noGrp="1"/>
          </p:cNvSpPr>
          <p:nvPr/>
        </p:nvSpPr>
        <p:spPr>
          <a:xfrm>
            <a:off x="0" y="685800"/>
            <a:ext cx="91440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!-- Left content box -->
      <p:sp>
        <p:nvSpPr>
          <p:cNvPr id="10" name="c1"/>
          <p:cNvSpPr>
            <a:spLocks noGrp="1"/>
          </p:cNvSpPr>
          <p:nvPr/>
        </p:nvSpPr>
        <p:spPr>
          <a:xfrm>
            <a:off x="228600" y="800000"/>
            <a:ext cx="4114800" cy="5600000"/>
          </a:xfrm>
          <a:prstGeom prst="rect">
            <a:avLst/>
          </a:prstGeom>
          <a:solidFill>
            <a:srgbClr val="0F3460"/>
          </a:solidFill>
          <a:ln w="19050">
            <a:solidFill>
              <a:srgbClr val="E84B00"/>
            </a:solidFill>
          </a:ln>
        </p:spPr>
        <p:txBody>
          <a:bodyPr lIns="228600" rIns="228600" tIns="228600" bIns="228600"/>
          <a:lstStyle/>
          <a:p>
            <a:r>
              <a:rPr lang="en-US" sz="1800" b="1" dirty="0">
                <a:solidFill>
                  <a:srgbClr val="E84B00"/>
                </a:solidFill>
                <a:latin typeface="Arial Black"/>
              </a:rPr>
              <a:t>INTERN PROFILE</a:t>
            </a:r>
          </a:p>
          <a:p>
            <a:r>
              <a:rPr lang="en-US" sz="1400" b="1" dirty="0">
                <a:solidFill>
                  <a:srgbClr val="FFE600"/>
                </a:solidFill>
                <a:latin typeface="Arial"/>
              </a:rPr>
              <a:t>Name: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[Your Name]</a:t>
            </a:r>
          </a:p>
          <a:p>
            <a:r>
              <a:rPr lang="en-US" sz="1400" b="1" dirty="0">
                <a:solidFill>
                  <a:srgbClr val="FFE600"/>
                </a:solidFill>
                <a:latin typeface="Arial"/>
              </a:rPr>
              <a:t>School: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[Your High School]</a:t>
            </a:r>
          </a:p>
          <a:p>
            <a:r>
              <a:rPr lang="en-US" sz="1400" b="1" dirty="0">
                <a:solidFill>
                  <a:srgbClr val="FFE600"/>
                </a:solidFill>
                <a:latin typeface="Arial"/>
              </a:rPr>
              <a:t>Role: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[Your Project Role]</a:t>
            </a:r>
          </a:p>
          <a:p>
            <a:r>
              <a:rPr lang="en-US" sz="1400" b="1" dirty="0">
                <a:solidFill>
                  <a:srgbClr val="FFE600"/>
                </a:solidFill>
                <a:latin typeface="Arial"/>
              </a:rPr>
              <a:t>Host Company: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[Company Name]</a:t>
            </a:r>
          </a:p>
          <a:p>
            <a:r>
              <a:rPr lang="en-US" sz="1400" b="1" dirty="0">
                <a:solidFill>
                  <a:srgbClr val="FFE600"/>
                </a:solidFill>
                <a:latin typeface="Arial"/>
              </a:rPr>
              <a:t>Supervisor: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[Supervisor Name]</a:t>
            </a:r>
          </a:p>
          <a:p>
            <a:r>
              <a:rPr lang="en-US" sz="100" dirty="0">
                <a:solidFill>
                  <a:srgbClr val="FFFFFF"/>
                </a:solidFill>
              </a:rPr>
              <a:t> </a:t>
            </a:r>
          </a:p>
          <a:p>
            <a:r>
              <a:rPr lang="en-US" sz="1800" b="1" dirty="0">
                <a:solidFill>
                  <a:srgbClr val="E84B00"/>
                </a:solidFill>
                <a:latin typeface="Arial Black"/>
              </a:rPr>
              <a:t>MY INTERESTS</a:t>
            </a:r>
          </a:p>
          <a:p>
            <a:r>
              <a:rPr lang="en-US" sz="1400" b="0" dirty="0">
                <a:solidFill>
                  <a:srgbClr val="FFFFFF"/>
                </a:solidFill>
                <a:latin typeface="Arial"/>
              </a:rPr>
              <a:t>· [Interest / Passion 1]</a:t>
            </a:r>
          </a:p>
          <a:p>
            <a:r>
              <a:rPr lang="en-US" sz="1400" b="0" dirty="0">
                <a:solidFill>
                  <a:srgbClr val="FFFFFF"/>
                </a:solidFill>
                <a:latin typeface="Arial"/>
              </a:rPr>
              <a:t>· [Interest / Passion 2]</a:t>
            </a:r>
          </a:p>
          <a:p>
            <a:r>
              <a:rPr lang="en-US" sz="1400" b="0" dirty="0">
                <a:solidFill>
                  <a:srgbClr val="FFFFFF"/>
                </a:solidFill>
                <a:latin typeface="Arial"/>
              </a:rPr>
              <a:t>· [Interest / Passion 3]</a:t>
            </a:r>
          </a:p>
          <a:p>
            <a:r>
              <a:rPr lang="en-US" sz="100" dirty="0">
                <a:solidFill>
                  <a:srgbClr val="FFFFFF"/>
                </a:solidFill>
              </a:rPr>
              <a:t> </a:t>
            </a:r>
          </a:p>
          <a:p>
            <a:r>
              <a:rPr lang="en-US" sz="1800" b="1" dirty="0">
                <a:solidFill>
                  <a:srgbClr val="E84B00"/>
                </a:solidFill>
                <a:latin typeface="Arial Black"/>
              </a:rPr>
              <a:t>CAREER GOAL</a:t>
            </a:r>
          </a:p>
          <a:p>
            <a:r>
              <a:rPr lang="en-US" sz="1400" b="0" dirty="0">
                <a:solidFill>
                  <a:srgbClr val="FFFFFF"/>
                </a:solidFill>
                <a:latin typeface="Arial"/>
              </a:rPr>
              <a:t>[What do you want to do in tech?]</a:t>
            </a:r>
          </a:p>
        </p:txBody>
      </p:sp>
      <!-- Right photo placeholder box -->
      <p:sp>
        <p:nvSpPr>
          <p:cNvPr id="11" name="photo_box"/>
          <p:cNvSpPr>
            <a:spLocks noGrp="1"/>
          </p:cNvSpPr>
          <p:nvPr/>
        </p:nvSpPr>
        <p:spPr>
          <a:xfrm>
            <a:off x="4571400" y="800000"/>
            <a:ext cx="4343800" cy="3657600"/>
          </a:xfrm>
          <a:prstGeom prst="rect">
            <a:avLst/>
          </a:prstGeom>
          <a:solidFill>
            <a:srgbClr val="1a3a5c"/>
          </a:solidFill>
          <a:ln w="19050">
            <a:solidFill>
              <a:srgbClr val="FFE600"/>
            </a:solidFill>
          </a:ln>
        </p:spPr>
        <p:txBody>
          <a:bodyPr anchor="ctr" anchorCtr="1"/>
          <a:lstStyle/>
          <a:p>
            <a:pPr algn="ctr"/>
            <a:r>
              <a:rPr lang="en-US" sz="1600" b="0" dirty="0">
                <a:solidFill>
                  <a:srgbClr val="FFE600"/>
                </a:solidFill>
                <a:latin typeface="Arial"/>
              </a:rPr>
              <a:t>[Add your photo here]</a:t>
            </a:r>
          </a:p>
        </p:txBody>
      </p:sp>
      <!-- Fun fact box -->
      <p:sp>
        <p:nvSpPr>
          <p:cNvPr id="12" name="funfact"/>
          <p:cNvSpPr>
            <a:spLocks noGrp="1"/>
          </p:cNvSpPr>
          <p:nvPr/>
        </p:nvSpPr>
        <p:spPr>
          <a:xfrm>
            <a:off x="4571400" y="4571400"/>
            <a:ext cx="4343800" cy="18288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⚡ FUN FACT ABOUT ME</a:t>
            </a:r>
          </a:p>
          <a:p>
            <a:r>
              <a:rPr lang="en-US" sz="1400" b="0" dirty="0">
                <a:solidFill>
                  <a:srgbClr val="FFFFFF"/>
                </a:solidFill>
                <a:latin typeface="Arial"/>
              </a:rPr>
              <a:t>[Share something interesting about yourself]</a:t>
            </a:r>
          </a:p>
        </p:txBody>
      </p:sp>
      <!-- Footer -->
      <p:sp>
        <p:nvSpPr>
          <p:cNvPr id="99" name="footer"/>
          <p:cNvSpPr>
            <a:spLocks noGrp="1"/>
          </p:cNvSpPr>
          <p:nvPr/>
        </p:nvSpPr>
        <p:spPr>
          <a:xfrm>
            <a:off x="0" y="6572250"/>
            <a:ext cx="91440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r"/>
            <a:r>
              <a:rPr lang="en-US" sz="700" b="0" dirty="0">
                <a:solidFill>
                  <a:srgbClr val="FFFFFF"/>
                </a:solidFill>
                <a:latin typeface="Arial"/>
              </a:rPr>
              <a:t>DYCD SYEP Tech Internship — Final Presentation Template  ·  Slide 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r --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="ctr" anchorCtr="1" lIns="228600" rIns="228600" tIns="45720" bIns="45720"/>
          <a:lstStyle/>
          <a:p>
            <a:r>
              <a:rPr lang="en-US" sz="2400" b="1" dirty="0">
                <a:solidFill>
                  <a:srgbClr val="E84B00"/>
                </a:solidFill>
                <a:latin typeface="Arial Black"/>
              </a:rPr>
              <a:t>THE PROBLEM WE SOLVED</a:t>
            </a:r>
          </a:p>
        </p:txBody>
      </p:sp>
      <!-- Yellow underbar accent -->
      <p:sp>
        <p:nvSpPr>
          <p:cNvPr id="3" name="accent"/>
          <p:cNvSpPr>
            <a:spLocks noGrp="1"/>
          </p:cNvSpPr>
          <p:nvPr/>
        </p:nvSpPr>
        <p:spPr>
          <a:xfrm>
            <a:off x="0" y="685800"/>
            <a:ext cx="91440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main"/>
          <p:cNvSpPr>
            <a:spLocks noGrp="1"/>
          </p:cNvSpPr>
          <p:nvPr/>
        </p:nvSpPr>
        <p:spPr>
          <a:xfrm>
            <a:off x="228600" y="800000"/>
            <a:ext cx="8686800" cy="2743200"/>
          </a:xfrm>
          <a:prstGeom prst="rect">
            <a:avLst/>
          </a:prstGeom>
          <a:solidFill>
            <a:srgbClr val="0F3460"/>
          </a:solidFill>
          <a:ln w="19050">
            <a:solidFill>
              <a:srgbClr val="E84B00"/>
            </a:solidFill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E600"/>
                </a:solidFill>
                <a:latin typeface="Arial Black"/>
              </a:rPr>
              <a:t>WHAT WAS THE CHALLENGE?</a:t>
            </a:r>
          </a:p>
          <a:p>
            <a:r>
              <a:rPr lang="en-US" sz="1400" b="0" dirty="0">
                <a:solidFill>
                  <a:srgbClr val="FFFFFF"/>
                </a:solidFill>
                <a:latin typeface="Arial"/>
              </a:rPr>
              <a:t>[Describe the business problem or challenge your team was asked to solve. What wasn't working? What information was missing? What was inefficient?]</a:t>
            </a:r>
          </a:p>
        </p:txBody>
      </p:sp>
      <p:sp>
        <p:nvSpPr>
          <p:cNvPr id="11" name="why"/>
          <p:cNvSpPr>
            <a:spLocks noGrp="1"/>
          </p:cNvSpPr>
          <p:nvPr/>
        </p:nvSpPr>
        <p:spPr>
          <a:xfrm>
            <a:off x="228600" y="3657600"/>
            <a:ext cx="4114800" cy="27432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WHY DOES IT MATTER?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[Who is affected by this problem? What is the impact if it goes unsolved? Why should the company care?]</a:t>
            </a:r>
          </a:p>
        </p:txBody>
      </p:sp>
      <p:sp>
        <p:nvSpPr>
          <p:cNvPr id="12" name="scope"/>
          <p:cNvSpPr>
            <a:spLocks noGrp="1"/>
          </p:cNvSpPr>
          <p:nvPr/>
        </p:nvSpPr>
        <p:spPr>
          <a:xfrm>
            <a:off x="4457400" y="3657600"/>
            <a:ext cx="4457400" cy="2743200"/>
          </a:xfrm>
          <a:prstGeom prst="rect">
            <a:avLst/>
          </a:prstGeom>
          <a:solidFill>
            <a:srgbClr val="0F3460"/>
          </a:solidFill>
          <a:ln w="19050">
            <a:solidFill>
              <a:srgbClr val="FFE600"/>
            </a:solidFill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E600"/>
                </a:solidFill>
                <a:latin typeface="Arial Black"/>
              </a:rPr>
              <a:t>OUR MISSION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[In 1-2 sentences: what were you asked to do? What does success look like?]</a:t>
            </a:r>
          </a:p>
        </p:txBody>
      </p:sp>
      <!-- Footer -->
      <p:sp>
        <p:nvSpPr>
          <p:cNvPr id="99" name="footer"/>
          <p:cNvSpPr>
            <a:spLocks noGrp="1"/>
          </p:cNvSpPr>
          <p:nvPr/>
        </p:nvSpPr>
        <p:spPr>
          <a:xfrm>
            <a:off x="0" y="6572250"/>
            <a:ext cx="91440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r"/>
            <a:r>
              <a:rPr lang="en-US" sz="700" b="0" dirty="0">
                <a:solidFill>
                  <a:srgbClr val="FFFFFF"/>
                </a:solidFill>
                <a:latin typeface="Arial"/>
              </a:rPr>
              <a:t>DYCD SYEP Tech Internship — Final Presentation Template  ·  Slide 3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r --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="ctr" anchorCtr="1" lIns="228600" rIns="228600" tIns="45720" bIns="45720"/>
          <a:lstStyle/>
          <a:p>
            <a:r>
              <a:rPr lang="en-US" sz="2400" b="1" dirty="0">
                <a:solidFill>
                  <a:srgbClr val="E84B00"/>
                </a:solidFill>
                <a:latin typeface="Arial Black"/>
              </a:rPr>
              <a:t>OUR APPROACH</a:t>
            </a:r>
          </a:p>
        </p:txBody>
      </p:sp>
      <!-- Yellow underbar accent -->
      <p:sp>
        <p:nvSpPr>
          <p:cNvPr id="3" name="accent"/>
          <p:cNvSpPr>
            <a:spLocks noGrp="1"/>
          </p:cNvSpPr>
          <p:nvPr/>
        </p:nvSpPr>
        <p:spPr>
          <a:xfrm>
            <a:off x="0" y="685800"/>
            <a:ext cx="91440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intro"/>
          <p:cNvSpPr>
            <a:spLocks noGrp="1"/>
          </p:cNvSpPr>
          <p:nvPr/>
        </p:nvSpPr>
        <p:spPr>
          <a:xfrm>
            <a:off x="228600" y="800000"/>
            <a:ext cx="8686800" cy="6858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[Describe how your team tackled the project. What methods, tools, or frameworks did you use?]</a:t>
            </a:r>
          </a:p>
        </p:txBody>
      </p:sp>
      <!-- 3 step boxes -->
      <p:sp>
        <p:nvSpPr>
          <p:cNvPr id="11" name="step1"/>
          <p:cNvSpPr>
            <a:spLocks noGrp="1"/>
          </p:cNvSpPr>
          <p:nvPr/>
        </p:nvSpPr>
        <p:spPr>
          <a:xfrm>
            <a:off x="228600" y="1600000"/>
            <a:ext cx="2743200" cy="27432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 anchor="ctr" anchorCtr="1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 Black"/>
              </a:rPr>
              <a:t>01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 Black"/>
              </a:rPr>
              <a:t>EXPLORE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Arial"/>
              </a:rPr>
              <a:t>[How did you research and understand the problem?]</a:t>
            </a:r>
          </a:p>
        </p:txBody>
      </p:sp>
      <p:sp>
        <p:nvSpPr>
          <p:cNvPr id="12" name="step2"/>
          <p:cNvSpPr>
            <a:spLocks noGrp="1"/>
          </p:cNvSpPr>
          <p:nvPr/>
        </p:nvSpPr>
        <p:spPr>
          <a:xfrm>
            <a:off x="3200400" y="1600000"/>
            <a:ext cx="2743200" cy="2743200"/>
          </a:xfrm>
          <a:prstGeom prst="rect">
            <a:avLst/>
          </a:prstGeom>
          <a:solidFill>
            <a:srgbClr val="0F3460"/>
          </a:solidFill>
          <a:ln w="19050">
            <a:solidFill>
              <a:srgbClr val="E84B00"/>
            </a:solidFill>
          </a:ln>
        </p:spPr>
        <p:txBody>
          <a:bodyPr lIns="228600" rIns="228600" tIns="228600" bIns="228600" anchor="ctr" anchorCtr="1"/>
          <a:lstStyle/>
          <a:p>
            <a:pPr algn="ctr"/>
            <a:r>
              <a:rPr lang="en-US" sz="3200" b="1" dirty="0">
                <a:solidFill>
                  <a:srgbClr val="E84B00"/>
                </a:solidFill>
                <a:latin typeface="Arial Black"/>
              </a:rPr>
              <a:t>02</a:t>
            </a:r>
          </a:p>
          <a:p>
            <a:pPr algn="ctr"/>
            <a:r>
              <a:rPr lang="en-US" sz="1600" b="1" dirty="0">
                <a:solidFill>
                  <a:srgbClr val="FFE600"/>
                </a:solidFill>
                <a:latin typeface="Arial Black"/>
              </a:rPr>
              <a:t>BUILD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Arial"/>
              </a:rPr>
              <a:t>[How did you collect data, build, or analyze?]</a:t>
            </a:r>
          </a:p>
        </p:txBody>
      </p:sp>
      <p:sp>
        <p:nvSpPr>
          <p:cNvPr id="13" name="step3"/>
          <p:cNvSpPr>
            <a:spLocks noGrp="1"/>
          </p:cNvSpPr>
          <p:nvPr/>
        </p:nvSpPr>
        <p:spPr>
          <a:xfrm>
            <a:off x="6172200" y="1600000"/>
            <a:ext cx="2743200" cy="27432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 anchor="ctr" anchorCtr="1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 Black"/>
              </a:rPr>
              <a:t>03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 Black"/>
              </a:rPr>
              <a:t>DELIVER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Arial"/>
              </a:rPr>
              <a:t>[What did you produce or present?]</a:t>
            </a:r>
          </a:p>
        </p:txBody>
      </p:sp>
      <!-- Tools used -->
      <p:sp>
        <p:nvSpPr>
          <p:cNvPr id="14" name="tools"/>
          <p:cNvSpPr>
            <a:spLocks noGrp="1"/>
          </p:cNvSpPr>
          <p:nvPr/>
        </p:nvSpPr>
        <p:spPr>
          <a:xfrm>
            <a:off x="228600" y="4457400"/>
            <a:ext cx="8686800" cy="1942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E600"/>
                </a:solidFill>
                <a:latin typeface="Arial Black"/>
              </a:rPr>
              <a:t>TOOLS &amp; TECHNOLOGIES WE USED</a:t>
            </a:r>
          </a:p>
          <a:p>
            <a:r>
              <a:rPr lang="en-US" sz="1400" b="0" dirty="0">
                <a:solidFill>
                  <a:srgbClr val="FFFFFF"/>
                </a:solidFill>
                <a:latin typeface="Arial"/>
              </a:rPr>
              <a:t>[List the tools, software, datasets, or methods your team used — e.g., Excel, Tableau, Zapier, Python, Kaggle dataset...]</a:t>
            </a:r>
          </a:p>
        </p:txBody>
      </p:sp>
      <!-- Footer -->
      <p:sp>
        <p:nvSpPr>
          <p:cNvPr id="99" name="footer"/>
          <p:cNvSpPr>
            <a:spLocks noGrp="1"/>
          </p:cNvSpPr>
          <p:nvPr/>
        </p:nvSpPr>
        <p:spPr>
          <a:xfrm>
            <a:off x="0" y="6572250"/>
            <a:ext cx="91440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r"/>
            <a:r>
              <a:rPr lang="en-US" sz="700" b="0" dirty="0">
                <a:solidFill>
                  <a:srgbClr val="FFFFFF"/>
                </a:solidFill>
                <a:latin typeface="Arial"/>
              </a:rPr>
              <a:t>DYCD SYEP Tech Internship — Final Presentation Template  ·  Slide 4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r --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="ctr" anchorCtr="1" lIns="228600" rIns="228600" tIns="45720" bIns="45720"/>
          <a:lstStyle/>
          <a:p>
            <a:r>
              <a:rPr lang="en-US" sz="2400" b="1" dirty="0">
                <a:solidFill>
                  <a:srgbClr val="E84B00"/>
                </a:solidFill>
                <a:latin typeface="Arial Black"/>
              </a:rPr>
              <a:t>DATA &amp; KEY FINDINGS</a:t>
            </a:r>
          </a:p>
        </p:txBody>
      </p:sp>
      <!-- Yellow underbar accent -->
      <p:sp>
        <p:nvSpPr>
          <p:cNvPr id="3" name="accent"/>
          <p:cNvSpPr>
            <a:spLocks noGrp="1"/>
          </p:cNvSpPr>
          <p:nvPr/>
        </p:nvSpPr>
        <p:spPr>
          <a:xfrm>
            <a:off x="0" y="685800"/>
            <a:ext cx="91440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intro"/>
          <p:cNvSpPr>
            <a:spLocks noGrp="1"/>
          </p:cNvSpPr>
          <p:nvPr/>
        </p:nvSpPr>
        <p:spPr>
          <a:xfrm>
            <a:off x="228600" y="800000"/>
            <a:ext cx="8686800" cy="5715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[This slide is for sharing your data, charts, visualizations, or key findings. Replace the boxes below with your actual charts or screenshots.]</a:t>
            </a:r>
          </a:p>
        </p:txBody>
      </p:sp>
      <!-- 2 chart placeholder boxes -->
      <p:sp>
        <p:nvSpPr>
          <p:cNvPr id="11" name="chart1"/>
          <p:cNvSpPr>
            <a:spLocks noGrp="1"/>
          </p:cNvSpPr>
          <p:nvPr/>
        </p:nvSpPr>
        <p:spPr>
          <a:xfrm>
            <a:off x="228600" y="1485900"/>
            <a:ext cx="4114800" cy="3543300"/>
          </a:xfrm>
          <a:prstGeom prst="rect">
            <a:avLst/>
          </a:prstGeom>
          <a:solidFill>
            <a:srgbClr val="1a3a5c"/>
          </a:solidFill>
          <a:ln w="19050">
            <a:solidFill>
              <a:srgbClr val="E84B00"/>
            </a:solidFill>
          </a:ln>
        </p:spPr>
        <p:txBody>
          <a:bodyPr anchor="ctr" anchorCtr="1"/>
          <a:lstStyle/>
          <a:p>
            <a:pPr algn="ctr"/>
            <a:r>
              <a:rPr lang="en-US" sz="1400" b="0" dirty="0">
                <a:solidFill>
                  <a:srgbClr val="FFE600"/>
                </a:solidFill>
                <a:latin typeface="Arial"/>
              </a:rPr>
              <a:t>[Chart / Visual 1
Insert your chart here]</a:t>
            </a:r>
          </a:p>
        </p:txBody>
      </p:sp>
      <p:sp>
        <p:nvSpPr>
          <p:cNvPr id="12" name="chart2"/>
          <p:cNvSpPr>
            <a:spLocks noGrp="1"/>
          </p:cNvSpPr>
          <p:nvPr/>
        </p:nvSpPr>
        <p:spPr>
          <a:xfrm>
            <a:off x="4571400" y="1485900"/>
            <a:ext cx="4343800" cy="3543300"/>
          </a:xfrm>
          <a:prstGeom prst="rect">
            <a:avLst/>
          </a:prstGeom>
          <a:solidFill>
            <a:srgbClr val="1a3a5c"/>
          </a:solidFill>
          <a:ln w="19050">
            <a:solidFill>
              <a:srgbClr val="E84B00"/>
            </a:solidFill>
          </a:ln>
        </p:spPr>
        <p:txBody>
          <a:bodyPr anchor="ctr" anchorCtr="1"/>
          <a:lstStyle/>
          <a:p>
            <a:pPr algn="ctr"/>
            <a:r>
              <a:rPr lang="en-US" sz="1400" b="0" dirty="0">
                <a:solidFill>
                  <a:srgbClr val="FFE600"/>
                </a:solidFill>
                <a:latin typeface="Arial"/>
              </a:rPr>
              <a:t>[Chart / Visual 2
Insert your chart here]</a:t>
            </a:r>
          </a:p>
        </p:txBody>
      </p:sp>
      <!-- Caption bar -->
      <p:sp>
        <p:nvSpPr>
          <p:cNvPr id="13" name="caption"/>
          <p:cNvSpPr>
            <a:spLocks noGrp="1"/>
          </p:cNvSpPr>
          <p:nvPr/>
        </p:nvSpPr>
        <p:spPr>
          <a:xfrm>
            <a:off x="228600" y="5143200"/>
            <a:ext cx="8686800" cy="12573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/>
          <a:lstStyle/>
          <a:p>
            <a:r>
              <a:rPr lang="en-US" sz="1400" b="1" dirty="0">
                <a:solidFill>
                  <a:srgbClr val="FFFFFF"/>
                </a:solidFill>
                <a:latin typeface="Arial Black"/>
              </a:rPr>
              <a:t>WHAT THE DATA TELLS US: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[Describe your key finding in plain language. What does this chart show? Why does it matter?]</a:t>
            </a:r>
          </a:p>
        </p:txBody>
      </p:sp>
      <!-- Footer -->
      <p:sp>
        <p:nvSpPr>
          <p:cNvPr id="99" name="footer"/>
          <p:cNvSpPr>
            <a:spLocks noGrp="1"/>
          </p:cNvSpPr>
          <p:nvPr/>
        </p:nvSpPr>
        <p:spPr>
          <a:xfrm>
            <a:off x="0" y="6572250"/>
            <a:ext cx="91440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r"/>
            <a:r>
              <a:rPr lang="en-US" sz="700" b="0" dirty="0">
                <a:solidFill>
                  <a:srgbClr val="FFFFFF"/>
                </a:solidFill>
                <a:latin typeface="Arial"/>
              </a:rPr>
              <a:t>DYCD SYEP Tech Internship — Final Presentation Template  ·  Slide 5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r --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="ctr" anchorCtr="1" lIns="228600" rIns="228600" tIns="45720" bIns="45720"/>
          <a:lstStyle/>
          <a:p>
            <a:r>
              <a:rPr lang="en-US" sz="2400" b="1" dirty="0">
                <a:solidFill>
                  <a:srgbClr val="E84B00"/>
                </a:solidFill>
                <a:latin typeface="Arial Black"/>
              </a:rPr>
              <a:t>KEY INSIGHTS</a:t>
            </a:r>
          </a:p>
        </p:txBody>
      </p:sp>
      <!-- Yellow underbar accent -->
      <p:sp>
        <p:nvSpPr>
          <p:cNvPr id="3" name="accent"/>
          <p:cNvSpPr>
            <a:spLocks noGrp="1"/>
          </p:cNvSpPr>
          <p:nvPr/>
        </p:nvSpPr>
        <p:spPr>
          <a:xfrm>
            <a:off x="0" y="685800"/>
            <a:ext cx="91440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insight1"/>
          <p:cNvSpPr>
            <a:spLocks noGrp="1"/>
          </p:cNvSpPr>
          <p:nvPr/>
        </p:nvSpPr>
        <p:spPr>
          <a:xfrm>
            <a:off x="228600" y="800000"/>
            <a:ext cx="8686800" cy="1371600"/>
          </a:xfrm>
          <a:prstGeom prst="rect">
            <a:avLst/>
          </a:prstGeom>
          <a:solidFill>
            <a:srgbClr val="0F3460"/>
          </a:solidFill>
          <a:ln w="38100">
            <a:solidFill>
              <a:srgbClr val="E84B00"/>
            </a:solidFill>
          </a:ln>
        </p:spPr>
        <p:txBody>
          <a:bodyPr lIns="228600" rIns="228600" tIns="228600" bIns="228600" anchor="ctr" anchorCtr="1"/>
          <a:lstStyle/>
          <a:p>
            <a:r>
              <a:rPr lang="en-US" sz="1400" b="1" dirty="0">
                <a:solidFill>
                  <a:srgbClr val="FFE600"/>
                </a:solidFill>
                <a:latin typeface="Arial Black"/>
              </a:rPr>
              <a:t>💡 INSIGHT #1: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[State your first key finding clearly. Include the data that supports it.]</a:t>
            </a:r>
          </a:p>
        </p:txBody>
      </p:sp>
      <p:sp>
        <p:nvSpPr>
          <p:cNvPr id="11" name="insight2"/>
          <p:cNvSpPr>
            <a:spLocks noGrp="1"/>
          </p:cNvSpPr>
          <p:nvPr/>
        </p:nvSpPr>
        <p:spPr>
          <a:xfrm>
            <a:off x="228600" y="2285700"/>
            <a:ext cx="8686800" cy="13716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 anchor="ctr" anchorCtr="1"/>
          <a:lstStyle/>
          <a:p>
            <a:r>
              <a:rPr lang="en-US" sz="1400" b="1" dirty="0">
                <a:solidFill>
                  <a:srgbClr val="FFFFFF"/>
                </a:solidFill>
                <a:latin typeface="Arial Black"/>
              </a:rPr>
              <a:t>💡 INSIGHT #2: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[State your second key finding. What surprised you? What was unexpected?]</a:t>
            </a:r>
          </a:p>
        </p:txBody>
      </p:sp>
      <p:sp>
        <p:nvSpPr>
          <p:cNvPr id="12" name="insight3"/>
          <p:cNvSpPr>
            <a:spLocks noGrp="1"/>
          </p:cNvSpPr>
          <p:nvPr/>
        </p:nvSpPr>
        <p:spPr>
          <a:xfrm>
            <a:off x="228600" y="3771300"/>
            <a:ext cx="8686800" cy="1371600"/>
          </a:xfrm>
          <a:prstGeom prst="rect">
            <a:avLst/>
          </a:prstGeom>
          <a:solidFill>
            <a:srgbClr val="0F3460"/>
          </a:solidFill>
          <a:ln w="38100">
            <a:solidFill>
              <a:srgbClr val="E84B00"/>
            </a:solidFill>
          </a:ln>
        </p:spPr>
        <p:txBody>
          <a:bodyPr lIns="228600" rIns="228600" tIns="228600" bIns="228600" anchor="ctr" anchorCtr="1"/>
          <a:lstStyle/>
          <a:p>
            <a:r>
              <a:rPr lang="en-US" sz="1400" b="1" dirty="0">
                <a:solidFill>
                  <a:srgbClr val="FFE600"/>
                </a:solidFill>
                <a:latin typeface="Arial Black"/>
              </a:rPr>
              <a:t>💡 INSIGHT #3: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[State your third key finding. What patterns did you identify?]</a:t>
            </a:r>
          </a:p>
        </p:txBody>
      </p:sp>
      <p:sp>
        <p:nvSpPr>
          <p:cNvPr id="13" name="addmore"/>
          <p:cNvSpPr>
            <a:spLocks noGrp="1"/>
          </p:cNvSpPr>
          <p:nvPr/>
        </p:nvSpPr>
        <p:spPr>
          <a:xfrm>
            <a:off x="228600" y="5257200"/>
            <a:ext cx="8686800" cy="1028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txBody>
          <a:bodyPr lIns="228600" rIns="228600" tIns="228600" bIns="228600" anchor="ctr" anchorCtr="1"/>
          <a:lstStyle/>
          <a:p>
            <a:r>
              <a:rPr lang="en-US" sz="1200" b="0" dirty="0">
                <a:solidFill>
                  <a:srgbClr val="FFFFFF"/>
                </a:solidFill>
                <a:latin typeface="Arial"/>
              </a:rPr>
              <a:t>[Add more slides as needed — duplicate this slide for Insights #4, #5, etc.]</a:t>
            </a:r>
          </a:p>
        </p:txBody>
      </p:sp>
      <!-- Footer -->
      <p:sp>
        <p:nvSpPr>
          <p:cNvPr id="99" name="footer"/>
          <p:cNvSpPr>
            <a:spLocks noGrp="1"/>
          </p:cNvSpPr>
          <p:nvPr/>
        </p:nvSpPr>
        <p:spPr>
          <a:xfrm>
            <a:off x="0" y="6572250"/>
            <a:ext cx="91440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r"/>
            <a:r>
              <a:rPr lang="en-US" sz="700" b="0" dirty="0">
                <a:solidFill>
                  <a:srgbClr val="FFFFFF"/>
                </a:solidFill>
                <a:latin typeface="Arial"/>
              </a:rPr>
              <a:t>DYCD SYEP Tech Internship — Final Presentation Template  ·  Slide 6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r --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="ctr" anchorCtr="1" lIns="228600" rIns="228600" tIns="45720" bIns="45720"/>
          <a:lstStyle/>
          <a:p>
            <a:r>
              <a:rPr lang="en-US" sz="2400" b="1" dirty="0">
                <a:solidFill>
                  <a:srgbClr val="E84B00"/>
                </a:solidFill>
                <a:latin typeface="Arial Black"/>
              </a:rPr>
              <a:t>OUR RECOMMENDATIONS</a:t>
            </a:r>
          </a:p>
        </p:txBody>
      </p:sp>
      <!-- Yellow underbar accent -->
      <p:sp>
        <p:nvSpPr>
          <p:cNvPr id="3" name="accent"/>
          <p:cNvSpPr>
            <a:spLocks noGrp="1"/>
          </p:cNvSpPr>
          <p:nvPr/>
        </p:nvSpPr>
        <p:spPr>
          <a:xfrm>
            <a:off x="0" y="685800"/>
            <a:ext cx="91440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intro"/>
          <p:cNvSpPr>
            <a:spLocks noGrp="1"/>
          </p:cNvSpPr>
          <p:nvPr/>
        </p:nvSpPr>
        <p:spPr>
          <a:xfrm>
            <a:off x="228600" y="800000"/>
            <a:ext cx="8686800" cy="5715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Based on our analysis, we recommend the following actions. Each recommendation is grounded in our findings.</a:t>
            </a:r>
          </a:p>
        </p:txBody>
      </p:sp>
      <p:sp>
        <p:nvSpPr>
          <p:cNvPr id="11" name="rec1"/>
          <p:cNvSpPr>
            <a:spLocks noGrp="1"/>
          </p:cNvSpPr>
          <p:nvPr/>
        </p:nvSpPr>
        <p:spPr>
          <a:xfrm>
            <a:off x="228600" y="1485900"/>
            <a:ext cx="8686800" cy="12573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 anchor="ctr" anchorCtr="1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RECOMMENDATION 1: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[What specific action should the company take? Be clear and actionable.]</a:t>
            </a:r>
          </a:p>
        </p:txBody>
      </p:sp>
      <p:sp>
        <p:nvSpPr>
          <p:cNvPr id="12" name="rec2"/>
          <p:cNvSpPr>
            <a:spLocks noGrp="1"/>
          </p:cNvSpPr>
          <p:nvPr/>
        </p:nvSpPr>
        <p:spPr>
          <a:xfrm>
            <a:off x="228600" y="2857200"/>
            <a:ext cx="8686800" cy="1257300"/>
          </a:xfrm>
          <a:prstGeom prst="rect">
            <a:avLst/>
          </a:prstGeom>
          <a:solidFill>
            <a:srgbClr val="0F3460"/>
          </a:solidFill>
          <a:ln w="19050">
            <a:solidFill>
              <a:srgbClr val="E84B00"/>
            </a:solidFill>
          </a:ln>
        </p:spPr>
        <p:txBody>
          <a:bodyPr lIns="228600" rIns="228600" tIns="228600" bIns="228600" anchor="ctr" anchorCtr="1"/>
          <a:lstStyle/>
          <a:p>
            <a:r>
              <a:rPr lang="en-US" sz="1600" b="1" dirty="0">
                <a:solidFill>
                  <a:srgbClr val="FFE600"/>
                </a:solidFill>
                <a:latin typeface="Arial Black"/>
              </a:rPr>
              <a:t>RECOMMENDATION 2: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[Second recommendation — what else should the company change, implement, or investigate?]</a:t>
            </a:r>
          </a:p>
        </p:txBody>
      </p:sp>
      <p:sp>
        <p:nvSpPr>
          <p:cNvPr id="13" name="rec3"/>
          <p:cNvSpPr>
            <a:spLocks noGrp="1"/>
          </p:cNvSpPr>
          <p:nvPr/>
        </p:nvSpPr>
        <p:spPr>
          <a:xfrm>
            <a:off x="228600" y="4228500"/>
            <a:ext cx="8686800" cy="12573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 anchor="ctr" anchorCtr="1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RECOMMENDATION 3: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[Third recommendation — what long-term improvement would make the biggest impact?]</a:t>
            </a:r>
          </a:p>
        </p:txBody>
      </p:sp>
      <!-- Footer -->
      <p:sp>
        <p:nvSpPr>
          <p:cNvPr id="99" name="footer"/>
          <p:cNvSpPr>
            <a:spLocks noGrp="1"/>
          </p:cNvSpPr>
          <p:nvPr/>
        </p:nvSpPr>
        <p:spPr>
          <a:xfrm>
            <a:off x="0" y="6572250"/>
            <a:ext cx="91440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r"/>
            <a:r>
              <a:rPr lang="en-US" sz="700" b="0" dirty="0">
                <a:solidFill>
                  <a:srgbClr val="FFFFFF"/>
                </a:solidFill>
                <a:latin typeface="Arial"/>
              </a:rPr>
              <a:t>DYCD SYEP Tech Internship — Final Presentation Template  ·  Slide 7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r --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="ctr" anchorCtr="1" lIns="228600" rIns="228600" tIns="45720" bIns="45720"/>
          <a:lstStyle/>
          <a:p>
            <a:r>
              <a:rPr lang="en-US" sz="2400" b="1" dirty="0">
                <a:solidFill>
                  <a:srgbClr val="E84B00"/>
                </a:solidFill>
                <a:latin typeface="Arial Black"/>
              </a:rPr>
              <a:t>DEMO / OUR DELIVERABLE</a:t>
            </a:r>
          </a:p>
        </p:txBody>
      </p:sp>
      <!-- Yellow underbar accent -->
      <p:sp>
        <p:nvSpPr>
          <p:cNvPr id="3" name="accent"/>
          <p:cNvSpPr>
            <a:spLocks noGrp="1"/>
          </p:cNvSpPr>
          <p:nvPr/>
        </p:nvSpPr>
        <p:spPr>
          <a:xfrm>
            <a:off x="0" y="685800"/>
            <a:ext cx="91440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demo_box"/>
          <p:cNvSpPr>
            <a:spLocks noGrp="1"/>
          </p:cNvSpPr>
          <p:nvPr/>
        </p:nvSpPr>
        <p:spPr>
          <a:xfrm>
            <a:off x="228600" y="800000"/>
            <a:ext cx="5486400" cy="5600000"/>
          </a:xfrm>
          <a:prstGeom prst="rect">
            <a:avLst/>
          </a:prstGeom>
          <a:solidFill>
            <a:srgbClr val="1a3a5c"/>
          </a:solidFill>
          <a:ln w="38100">
            <a:solidFill>
              <a:srgbClr val="E84B00"/>
            </a:solidFill>
          </a:ln>
        </p:spPr>
        <p:txBody>
          <a:bodyPr anchor="ctr" anchorCtr="1"/>
          <a:lstStyle/>
          <a:p>
            <a:pPr algn="ctr"/>
            <a:r>
              <a:rPr lang="en-US" sz="1600" b="0" dirty="0">
                <a:solidFill>
                  <a:srgbClr val="FFE600"/>
                </a:solidFill>
                <a:latin typeface="Arial"/>
              </a:rPr>
              <a:t>[Insert screenshot or screenshot of your dashboard, automation, or deliverable here]</a:t>
            </a:r>
          </a:p>
        </p:txBody>
      </p:sp>
      <p:sp>
        <p:nvSpPr>
          <p:cNvPr id="11" name="demo_desc"/>
          <p:cNvSpPr>
            <a:spLocks noGrp="1"/>
          </p:cNvSpPr>
          <p:nvPr/>
        </p:nvSpPr>
        <p:spPr>
          <a:xfrm>
            <a:off x="5943600" y="800000"/>
            <a:ext cx="2971800" cy="24000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WHAT YOU'RE SEEING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[Describe what your deliverable is and how it works in 3–5 sentences.]</a:t>
            </a:r>
          </a:p>
        </p:txBody>
      </p:sp>
      <p:sp>
        <p:nvSpPr>
          <p:cNvPr id="12" name="demo_impact"/>
          <p:cNvSpPr>
            <a:spLocks noGrp="1"/>
          </p:cNvSpPr>
          <p:nvPr/>
        </p:nvSpPr>
        <p:spPr>
          <a:xfrm>
            <a:off x="5943600" y="3314100"/>
            <a:ext cx="2971800" cy="3085900"/>
          </a:xfrm>
          <a:prstGeom prst="rect">
            <a:avLst/>
          </a:prstGeom>
          <a:solidFill>
            <a:srgbClr val="0F3460"/>
          </a:solidFill>
          <a:ln w="19050">
            <a:solidFill>
              <a:srgbClr val="FFE600"/>
            </a:solidFill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E600"/>
                </a:solidFill>
                <a:latin typeface="Arial Black"/>
              </a:rPr>
              <a:t>POTENTIAL IMPACT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[What is the estimated time saved, efficiency gained, or business value of your solution?]</a:t>
            </a:r>
          </a:p>
        </p:txBody>
      </p:sp>
      <!-- Footer -->
      <p:sp>
        <p:nvSpPr>
          <p:cNvPr id="99" name="footer"/>
          <p:cNvSpPr>
            <a:spLocks noGrp="1"/>
          </p:cNvSpPr>
          <p:nvPr/>
        </p:nvSpPr>
        <p:spPr>
          <a:xfrm>
            <a:off x="0" y="6572250"/>
            <a:ext cx="91440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r"/>
            <a:r>
              <a:rPr lang="en-US" sz="700" b="0" dirty="0">
                <a:solidFill>
                  <a:srgbClr val="FFFFFF"/>
                </a:solidFill>
                <a:latin typeface="Arial"/>
              </a:rPr>
              <a:t>DYCD SYEP Tech Internship — Final Presentation Template  ·  Slide 8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r --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="ctr" anchorCtr="1" lIns="228600" rIns="228600" tIns="45720" bIns="45720"/>
          <a:lstStyle/>
          <a:p>
            <a:r>
              <a:rPr lang="en-US" sz="2400" b="1" dirty="0">
                <a:solidFill>
                  <a:srgbClr val="E84B00"/>
                </a:solidFill>
                <a:latin typeface="Arial Black"/>
              </a:rPr>
              <a:t>LESSONS LEARNED</a:t>
            </a:r>
          </a:p>
        </p:txBody>
      </p:sp>
      <!-- Yellow underbar accent -->
      <p:sp>
        <p:nvSpPr>
          <p:cNvPr id="3" name="accent"/>
          <p:cNvSpPr>
            <a:spLocks noGrp="1"/>
          </p:cNvSpPr>
          <p:nvPr/>
        </p:nvSpPr>
        <p:spPr>
          <a:xfrm>
            <a:off x="0" y="685800"/>
            <a:ext cx="91440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1"/>
          <p:cNvSpPr>
            <a:spLocks noGrp="1"/>
          </p:cNvSpPr>
          <p:nvPr/>
        </p:nvSpPr>
        <p:spPr>
          <a:xfrm>
            <a:off x="228600" y="800000"/>
            <a:ext cx="4114800" cy="25146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🧠 WHAT I LEARNED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[What technical or professional skills did you develop during this internship? Be specific.]</a:t>
            </a:r>
          </a:p>
        </p:txBody>
      </p:sp>
      <p:sp>
        <p:nvSpPr>
          <p:cNvPr id="11" name="l2"/>
          <p:cNvSpPr>
            <a:spLocks noGrp="1"/>
          </p:cNvSpPr>
          <p:nvPr/>
        </p:nvSpPr>
        <p:spPr>
          <a:xfrm>
            <a:off x="4571400" y="800000"/>
            <a:ext cx="4343800" cy="2514600"/>
          </a:xfrm>
          <a:prstGeom prst="rect">
            <a:avLst/>
          </a:prstGeom>
          <a:solidFill>
            <a:srgbClr val="0F3460"/>
          </a:solidFill>
          <a:ln w="19050">
            <a:solidFill>
              <a:srgbClr val="FFE600"/>
            </a:solidFill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E600"/>
                </a:solidFill>
                <a:latin typeface="Arial Black"/>
              </a:rPr>
              <a:t>🚧 CHALLENGES I OVERCAME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[What was hard? How did you push through? What would you do differently?]</a:t>
            </a:r>
          </a:p>
        </p:txBody>
      </p:sp>
      <p:sp>
        <p:nvSpPr>
          <p:cNvPr id="12" name="l3"/>
          <p:cNvSpPr>
            <a:spLocks noGrp="1"/>
          </p:cNvSpPr>
          <p:nvPr/>
        </p:nvSpPr>
        <p:spPr>
          <a:xfrm>
            <a:off x="228600" y="3428700"/>
            <a:ext cx="4114800" cy="2971800"/>
          </a:xfrm>
          <a:prstGeom prst="rect">
            <a:avLst/>
          </a:prstGeom>
          <a:solidFill>
            <a:srgbClr val="0F3460"/>
          </a:solidFill>
          <a:ln w="19050">
            <a:solidFill>
              <a:srgbClr val="E84B00"/>
            </a:solidFill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E84B00"/>
                </a:solidFill>
                <a:latin typeface="Arial Black"/>
              </a:rPr>
              <a:t>💡 ADVICE TO FUTURE INTERNS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[What advice would you give to the next group of SYEP interns?]</a:t>
            </a:r>
          </a:p>
        </p:txBody>
      </p:sp>
      <p:sp>
        <p:nvSpPr>
          <p:cNvPr id="13" name="l4"/>
          <p:cNvSpPr>
            <a:spLocks noGrp="1"/>
          </p:cNvSpPr>
          <p:nvPr/>
        </p:nvSpPr>
        <p:spPr>
          <a:xfrm>
            <a:off x="4571400" y="3428700"/>
            <a:ext cx="4343800" cy="29718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⭐ PROUDEST MOMENT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[What moment during this internship are you most proud of? What does it say about your growth?]</a:t>
            </a:r>
          </a:p>
        </p:txBody>
      </p:sp>
      <!-- Footer -->
      <p:sp>
        <p:nvSpPr>
          <p:cNvPr id="99" name="footer"/>
          <p:cNvSpPr>
            <a:spLocks noGrp="1"/>
          </p:cNvSpPr>
          <p:nvPr/>
        </p:nvSpPr>
        <p:spPr>
          <a:xfrm>
            <a:off x="0" y="6572250"/>
            <a:ext cx="91440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r"/>
            <a:r>
              <a:rPr lang="en-US" sz="700" b="0" dirty="0">
                <a:solidFill>
                  <a:srgbClr val="FFFFFF"/>
                </a:solidFill>
                <a:latin typeface="Arial"/>
              </a:rPr>
              <a:t>DYCD SYEP Tech Internship — Final Presentation Template  ·  Slide 9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Orange left bar -->
      <p:sp>
        <p:nvSpPr>
          <p:cNvPr id="2" name="bar"/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/>
          <a:lstStyle/>
          <a:p/>
        </p:txBody>
      </p:sp>
      <!-- Thank you main -->
      <p:sp>
        <p:nvSpPr>
          <p:cNvPr id="3" name="thanks"/>
          <p:cNvSpPr>
            <a:spLocks noGrp="1"/>
          </p:cNvSpPr>
          <p:nvPr/>
        </p:nvSpPr>
        <p:spPr>
          <a:xfrm>
            <a:off x="457200" y="457200"/>
            <a:ext cx="8457600" cy="2057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 dirty="0">
                <a:solidFill>
                  <a:srgbClr val="E84B00"/>
                </a:solidFill>
                <a:latin typeface="Arial Black"/>
              </a:rPr>
              <a:t>THANK YOU!</a:t>
            </a:r>
          </a:p>
          <a:p>
            <a:r>
              <a:rPr lang="en-US" sz="2000" b="0" dirty="0">
                <a:solidFill>
                  <a:srgbClr val="FFFFFF"/>
                </a:solidFill>
                <a:latin typeface="Arial"/>
              </a:rPr>
              <a:t>Questions? We are happy to discuss our work.</a:t>
            </a:r>
          </a:p>
        </p:txBody>
      </p:sp>
      <!-- Yellow divider -->
      <p:sp>
        <p:nvSpPr>
          <p:cNvPr id="4" name="div"/>
          <p:cNvSpPr>
            <a:spLocks noGrp="1"/>
          </p:cNvSpPr>
          <p:nvPr/>
        </p:nvSpPr>
        <p:spPr>
          <a:xfrm>
            <a:off x="457200" y="2628900"/>
            <a:ext cx="1371600" cy="5715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/>
          <a:lstStyle/>
          <a:p/>
        </p:txBody>
      </p:sp>
      <!-- Next steps box -->
      <p:sp>
        <p:nvSpPr>
          <p:cNvPr id="5" name="nextsteps"/>
          <p:cNvSpPr>
            <a:spLocks noGrp="1"/>
          </p:cNvSpPr>
          <p:nvPr/>
        </p:nvSpPr>
        <p:spPr>
          <a:xfrm>
            <a:off x="457200" y="2800000"/>
            <a:ext cx="3886200" cy="3428700"/>
          </a:xfrm>
          <a:prstGeom prst="rect">
            <a:avLst/>
          </a:prstGeom>
          <a:solidFill>
            <a:srgbClr val="0F3460"/>
          </a:solidFill>
          <a:ln w="19050">
            <a:solidFill>
              <a:srgbClr val="E84B00"/>
            </a:solidFill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E600"/>
                </a:solidFill>
                <a:latin typeface="Arial Black"/>
              </a:rPr>
              <a:t>MY NEXT STEPS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· [What will you do next in your tech journey?]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· [What skill do you want to develop next?]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· [What career in tech interests you most?]</a:t>
            </a:r>
          </a:p>
          <a:p>
            <a:r>
              <a:rPr lang="en-US" sz="1300" b="0" dirty="0">
                <a:solidFill>
                  <a:srgbClr val="FFFFFF"/>
                </a:solidFill>
                <a:latin typeface="Arial"/>
              </a:rPr>
              <a:t>· [How will you use what you learned here?]</a:t>
            </a:r>
          </a:p>
        </p:txBody>
      </p:sp>
      <!-- Contact / Connect box -->
      <p:sp>
        <p:nvSpPr>
          <p:cNvPr id="6" name="connect"/>
          <p:cNvSpPr>
            <a:spLocks noGrp="1"/>
          </p:cNvSpPr>
          <p:nvPr/>
        </p:nvSpPr>
        <p:spPr>
          <a:xfrm>
            <a:off x="4571400" y="2800000"/>
            <a:ext cx="4343800" cy="342870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lIns="228600" rIns="228600" tIns="228600" bIns="228600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CONNECT WITH US</a:t>
            </a:r>
          </a:p>
          <a:p>
            <a:r>
              <a:rPr lang="en-US" sz="1400" b="1" dirty="0">
                <a:solidFill>
                  <a:srgbClr val="FFE600"/>
                </a:solidFill>
                <a:latin typeface="Arial"/>
              </a:rPr>
              <a:t>LinkedIn: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[Your LinkedIn / Portfolio URL]</a:t>
            </a:r>
          </a:p>
          <a:p>
            <a:r>
              <a:rPr lang="en-US" sz="1400" b="1" dirty="0">
                <a:solidFill>
                  <a:srgbClr val="FFE600"/>
                </a:solidFill>
                <a:latin typeface="Arial"/>
              </a:rPr>
              <a:t>Email: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[your.email@school.edu]</a:t>
            </a:r>
          </a:p>
          <a:p>
            <a:r>
              <a:rPr lang="en-US" sz="100" dirty="0">
                <a:solidFill>
                  <a:srgbClr val="FFFFFF"/>
                </a:solidFill>
              </a:rPr>
              <a:t> </a:t>
            </a:r>
          </a:p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ACKNOWLEDGEMENTS</a:t>
            </a:r>
          </a:p>
          <a:p>
            <a:r>
              <a:rPr lang="en-US" sz="1200" b="0" dirty="0">
                <a:solidFill>
                  <a:srgbClr val="FFFFFF"/>
                </a:solidFill>
                <a:latin typeface="Arial"/>
              </a:rPr>
              <a:t>Thank you to [Supervisor Name], [Company], DYCD, Urban Assembly, and The Knowledge House for this opportunity.</a:t>
            </a:r>
          </a:p>
        </p:txBody>
      </p:sp>
      <!-- Footer -->
      <p:sp>
        <p:nvSpPr>
          <p:cNvPr id="7" name="footer"/>
          <p:cNvSpPr>
            <a:spLocks noGrp="1"/>
          </p:cNvSpPr>
          <p:nvPr/>
        </p:nvSpPr>
        <p:spPr>
          <a:xfrm>
            <a:off x="228600" y="6572250"/>
            <a:ext cx="8915400" cy="285750"/>
          </a:xfrm>
          <a:prstGeom prst="rect">
            <a:avLst/>
          </a:prstGeom>
          <a:solidFill>
            <a:srgbClr val="E84B00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700" b="0" dirty="0">
                <a:solidFill>
                  <a:srgbClr val="FFFFFF"/>
                </a:solidFill>
                <a:latin typeface="Arial"/>
              </a:rPr>
              <a:t>NYC DEPT OF YOUTH &amp; COMMUNITY DEVELOPMENT  ·  URBAN ASSEMBLY  ·  THE KNOWLEDGE HOUSE  ·  SYEP 2025</a:t>
            </a:r>
          </a:p>
        </p:txBody>
      </p:sp>
    </p:spTree>
  </p:cSld>
</p:sld>
</file>

<file path=ppt/theme/theme1.xml><?xml version="1.0" encoding="utf-8"?>
<a:theme xmlns:a="http://schemas.openxmlformats.org/drawingml/2006/main" name="DYCD Theme">
  <a:themeElements>
    <a:clrScheme name="DYCD">
      <a:dk1>
        <a:srgbClr val="0A2540"/>
      </a:dk1>
      <a:lt1>
        <a:srgbClr val="FFFFFF"/>
      </a:lt1>
      <a:dk2>
        <a:srgbClr val="0F3460"/>
      </a:dk2>
      <a:lt2>
        <a:srgbClr val="F7F8FA"/>
      </a:lt2>
      <a:accent1>
        <a:srgbClr val="E84B00"/>
      </a:accent1>
      <a:accent2>
        <a:srgbClr val="FFE600"/>
      </a:accent2>
      <a:accent3>
        <a:srgbClr val="0A2540"/>
      </a:accent3>
      <a:accent4>
        <a:srgbClr val="E84B00"/>
      </a:accent4>
      <a:accent5>
        <a:srgbClr val="FFE600"/>
      </a:accent5>
      <a:accent6>
        <a:srgbClr val="FFFFFF"/>
      </a:accent6>
      <a:hlink>
        <a:srgbClr val="E84B00"/>
      </a:hlink>
      <a:folHlink>
        <a:srgbClr val="0F3460"/>
      </a:folHlink>
    </a:clrScheme>
    <a:fontScheme name="DYCD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DYC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10</Slides>
  <Company>DYCD x Urban Assembly x The Knowledge House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SYEP Tech Internship — Final Presentation Template</dc:title>
  <dc:subject>High School Tech Internship Final Presentation</dc:subject>
  <dc:creator>DYCD x Urban Assembly x The Knowledge House</dc:creator>
  <cp:lastModifiedBy>DYCD</cp:lastModifiedBy>
  <dcterms:created xsi:type="dcterms:W3CDTF">2025-01-01T00:00:00Z</dcterms:created>
</cp:coreProperties>
</file>